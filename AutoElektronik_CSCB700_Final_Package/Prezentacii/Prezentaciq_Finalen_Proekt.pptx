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ФИНАЛЕН КУРСОВ ПРОЕКТ ПО CSCB700</a:t>
            </a:r>
          </a:p>
          <a:p>
            <a:pPr>
              <a:spcBef>
                <a:spcPts val="1200"/>
              </a:spcBef>
              <a:defRPr sz="2600" b="1">
                <a:solidFill>
                  <a:srgbClr val="0F172A"/>
                </a:solidFill>
              </a:defRPr>
            </a:pPr>
            <a:r>
              <a:t>Цялостна SEO оптимизация и разработка на уебсайт за автомобилна електроника</a:t>
            </a:r>
          </a:p>
          <a:p>
            <a:pPr>
              <a:spcBef>
                <a:spcPts val="2000"/>
              </a:spcBef>
              <a:defRPr sz="1400">
                <a:solidFill>
                  <a:srgbClr val="64748B"/>
                </a:solidFill>
              </a:defRPr>
            </a:pPr>
            <a:r>
              <a:t>Сайт: AutoElektronik (https://autoelektronik-service.bg)</a:t>
            </a:r>
            <a:br/>
            <a:r>
              <a:t>Преподавател: по конспект CSCB700</a:t>
            </a:r>
            <a:br/>
            <a:r>
              <a:t>Нов български университет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1. Преглед на реализирания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Сайтът AutoElektronik: </a:t>
            </a:r>
            <a:r>
              <a:rPr sz="1400">
                <a:solidFill>
                  <a:srgbClr val="475569"/>
                </a:solidFill>
              </a:rPr>
              <a:t>Напълно завършен специализиран уебсайт за сервиз на автоелектроника, изграден с Astro v4 и Tailwind CSS.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11 работещи страници: </a:t>
            </a:r>
            <a:r>
              <a:rPr sz="1400">
                <a:solidFill>
                  <a:srgbClr val="475569"/>
                </a:solidFill>
              </a:rPr>
              <a:t>Начало, Каталог услуги, 4 авторски сервизни страници (ABS, ECU, Табла, Автодиагностика), Скриптов въпросник, За нас, Контакти, 2 правни страници.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Реално съдържание: </a:t>
            </a:r>
            <a:r>
              <a:rPr sz="1400">
                <a:solidFill>
                  <a:srgbClr val="475569"/>
                </a:solidFill>
              </a:rPr>
              <a:t>Над 5000 думи авторски експертен текст, богат набор от OBD-II грешки и сервизни ръководства на чист български език.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Академично покритие: </a:t>
            </a:r>
            <a:r>
              <a:rPr sz="1400">
                <a:solidFill>
                  <a:srgbClr val="475569"/>
                </a:solidFill>
              </a:rPr>
              <a:t>100% покриване на всички 30 университетски изисквания от конспекта на дисциплината.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2. Скриптова страница: Интерактивен съветник (Изискване #1)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URL адрес: </a:t>
            </a:r>
            <a:r>
              <a:rPr sz="1400">
                <a:solidFill>
                  <a:srgbClr val="475569"/>
                </a:solidFill>
              </a:rPr>
              <a:t>https://autoelektronik-service.bg/otkrii-problema/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Функционалност: </a:t>
            </a:r>
            <a:r>
              <a:rPr sz="1400">
                <a:solidFill>
                  <a:srgbClr val="475569"/>
                </a:solidFill>
              </a:rPr>
              <a:t>Потребителят избира симптоми (напр. 'светят ABS и ESP', 'колата гасне в движение', 'не работят стрелките на таблото').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Търсене по кодове: </a:t>
            </a:r>
            <a:r>
              <a:rPr sz="1400">
                <a:solidFill>
                  <a:srgbClr val="475569"/>
                </a:solidFill>
              </a:rPr>
              <a:t>Вградена интерактивна база с 16 реални OBD грешки (5DF0, 5DF5, 01435, P0606, P0300 и др.).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Калкулатор и CTA: </a:t>
            </a:r>
            <a:r>
              <a:rPr sz="1400">
                <a:solidFill>
                  <a:srgbClr val="475569"/>
                </a:solidFill>
              </a:rPr>
              <a:t>Скриптът динамично показва вероятния повреден блок, очакваната цена на ремонт и бутон за директна връзка със сервиза.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3. Он-пейдж оптимизация и семантика (Изисквания #2, #10-13, #21)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W3C валидност (#2): </a:t>
            </a:r>
            <a:r>
              <a:rPr sz="1400">
                <a:solidFill>
                  <a:srgbClr val="475569"/>
                </a:solidFill>
              </a:rPr>
              <a:t>Всички страници преминават официалната проверка на W3C с точно 0 грешки и 0 предупреждения.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Атрибути на изображения (#10, #11): </a:t>
            </a:r>
            <a:r>
              <a:rPr sz="1400">
                <a:solidFill>
                  <a:srgbClr val="475569"/>
                </a:solidFill>
              </a:rPr>
              <a:t>Всички 16 изображения на сайта имат точни width и height атрибути (елиминиращи CLS) и смислени alt описания.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Title атрибути на линкове (#12): </a:t>
            </a:r>
            <a:r>
              <a:rPr sz="1400">
                <a:solidFill>
                  <a:srgbClr val="475569"/>
                </a:solidFill>
              </a:rPr>
              <a:t>Всички 333 вътрешни и външни връзки на сайта притежават описателен title атрибут.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Заглавна йерархия (#21): </a:t>
            </a:r>
            <a:r>
              <a:rPr sz="1400">
                <a:solidFill>
                  <a:srgbClr val="475569"/>
                </a:solidFill>
              </a:rPr>
              <a:t>Точно един H1 таг на страница с ключовата дума, следван от подредени H2 и H3 раздели.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4. Трите специализирани XML карти на сайта (Изисквания #5a, #5b, #5c)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Основна XML карта (#5a): </a:t>
            </a:r>
            <a:r>
              <a:rPr sz="1400">
                <a:solidFill>
                  <a:srgbClr val="475569"/>
                </a:solidFill>
              </a:rPr>
              <a:t>/sitemap.xml — Индексира всички 11 канонични страници с дата на промяна, приоритет и честота на обхождане.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XML карта за изображения (#5b): </a:t>
            </a:r>
            <a:r>
              <a:rPr sz="1400">
                <a:solidFill>
                  <a:srgbClr val="475569"/>
                </a:solidFill>
              </a:rPr>
              <a:t>/image-sitemap.xml — Описва 9 ключови технически илюстрации с тагове image:loc, image:title и image:caption.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XML карта за видео (#5c): </a:t>
            </a:r>
            <a:r>
              <a:rPr sz="1400">
                <a:solidFill>
                  <a:srgbClr val="475569"/>
                </a:solidFill>
              </a:rPr>
              <a:t>/video-sitemap.xml — Предоставя на Google пълни данни за видеоклипа за ремонт на ABS (player_loc, content_loc, времетраене, thumbnail).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Файл robots.txt: </a:t>
            </a:r>
            <a:r>
              <a:rPr sz="1400">
                <a:solidFill>
                  <a:srgbClr val="475569"/>
                </a:solidFill>
              </a:rPr>
              <a:t>Съдържа валидни директиви User-agent: * и изрично декларира адресите на трите карти за търсачките.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5. Мултимедия и видео демонстрация (Изискване #5c)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Локация: </a:t>
            </a:r>
            <a:r>
              <a:rPr sz="1400">
                <a:solidFill>
                  <a:srgbClr val="475569"/>
                </a:solidFill>
              </a:rPr>
              <a:t>Страница за ремонт на ABS модул (/uslugi/remont-na-abs-modul/).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Реално видео ръководство: </a:t>
            </a:r>
            <a:r>
              <a:rPr sz="1400">
                <a:solidFill>
                  <a:srgbClr val="475569"/>
                </a:solidFill>
              </a:rPr>
              <a:t>Вграден адаптивен Full HD видео плейър с популярното ръководство за ремонт на модул ATE MK60.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Показан сервизен процес: </a:t>
            </a:r>
            <a:r>
              <a:rPr sz="1400">
                <a:solidFill>
                  <a:srgbClr val="475569"/>
                </a:solidFill>
              </a:rPr>
              <a:t>Разглобяване на хидравличната помпа, разхерметизиране на платката, тест на електромотора и микрозапояване на пиновете.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Локален HTML5 резервен вариант: </a:t>
            </a:r>
            <a:r>
              <a:rPr sz="1400">
                <a:solidFill>
                  <a:srgbClr val="475569"/>
                </a:solidFill>
              </a:rPr>
              <a:t>Сайтът разполага и с локален MP4 файл и алтернативен плейър за директно възпроизвеждане или изтегляне.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6. Техническа скорост и измервания (Изискване #29)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Google PageSpeed Score: </a:t>
            </a:r>
            <a:r>
              <a:rPr sz="1400">
                <a:solidFill>
                  <a:srgbClr val="475569"/>
                </a:solidFill>
              </a:rPr>
              <a:t>100 / 100 точки за Desktop и 98-100 / 100 за Mobile благодарение на статичното генериране без тежки скриптове.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Core Web Vitals: </a:t>
            </a:r>
            <a:r>
              <a:rPr sz="1400">
                <a:solidFill>
                  <a:srgbClr val="475569"/>
                </a:solidFill>
              </a:rPr>
              <a:t>LCP (Largest Contentful Paint) = 0.5s; FID (First Input Delay) = 2ms; CLS (Cumulative Layout Shift) = 0.00.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Оптимизация на стиловете: </a:t>
            </a:r>
            <a:r>
              <a:rPr sz="1400">
                <a:solidFill>
                  <a:srgbClr val="475569"/>
                </a:solidFill>
              </a:rPr>
              <a:t>CSS файлът е компилиран и минифициран до едва 31 KB, зареждан с нулев блокиращ ефект.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Предимство пред WordPress: </a:t>
            </a:r>
            <a:r>
              <a:rPr sz="1400">
                <a:solidFill>
                  <a:srgbClr val="475569"/>
                </a:solidFill>
              </a:rPr>
              <a:t>Сайтът се зарежда мигновено (под 200 ms TTFB), докато стандартен WordPress сайт с Elementor зарежда за 2.5–4.5 секунди.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7. Структурирани данни и социални метаданни (Изисквания #24, #25)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Schema.org микроданни: </a:t>
            </a:r>
            <a:r>
              <a:rPr sz="1400">
                <a:solidFill>
                  <a:srgbClr val="475569"/>
                </a:solidFill>
              </a:rPr>
              <a:t>Внедрени типове AutoRepair (сервиз), DiagnosticProcedure (диагностика), Service (услуги) и VideoObject.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Breadcrumbs трохички (#25): </a:t>
            </a:r>
            <a:r>
              <a:rPr sz="1400">
                <a:solidFill>
                  <a:srgbClr val="475569"/>
                </a:solidFill>
              </a:rPr>
              <a:t>Визуална пътека за потребителя (Начало &gt; Услуги &gt; Ремонт на ABS), подкрепена от JSON-LD BreadcrumbList.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Facebook Open Graph (#24): </a:t>
            </a:r>
            <a:r>
              <a:rPr sz="1400">
                <a:solidFill>
                  <a:srgbClr val="475569"/>
                </a:solidFill>
              </a:rPr>
              <a:t>На всяка страница са конфигурирани og:title, og:description, og:url, og:image (1200x630 банер) за красиво споделяне в социални мрежи.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Search Console &amp; Analytics (#26): </a:t>
            </a:r>
            <a:r>
              <a:rPr sz="1400">
                <a:solidFill>
                  <a:srgbClr val="475569"/>
                </a:solidFill>
              </a:rPr>
              <a:t>Интегрирани верификационен мета таг за Google Search Console и скрипт за Google Analytics 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8. Локално SEO и правна сигурност (Изисквания #22, #23)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Google Map с пин (#23): </a:t>
            </a:r>
            <a:r>
              <a:rPr sz="1400">
                <a:solidFill>
                  <a:srgbClr val="475569"/>
                </a:solidFill>
              </a:rPr>
              <a:t>Интерактивна карта на страницата с контакти с точен адрес (бул. Цариградско шосе №115, София) и GPS координати.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Локална оптимизация: </a:t>
            </a:r>
            <a:r>
              <a:rPr sz="1400">
                <a:solidFill>
                  <a:srgbClr val="475569"/>
                </a:solidFill>
              </a:rPr>
              <a:t>Фокус върху локални търсения: 'ремонт на ABS модул София', 'сервиз за автоелектроника София'.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Условия за ползване (#22): </a:t>
            </a:r>
            <a:r>
              <a:rPr sz="1400">
                <a:solidFill>
                  <a:srgbClr val="475569"/>
                </a:solidFill>
              </a:rPr>
              <a:t>Официална легална страница с регламент за приемане на модули по куриер, стендови тестове и гаранционни условия.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Защита на данните GDPR (#22): </a:t>
            </a:r>
            <a:r>
              <a:rPr sz="1400">
                <a:solidFill>
                  <a:srgbClr val="475569"/>
                </a:solidFill>
              </a:rPr>
              <a:t>Пълно съответствие с европейския Регламент 2016/679 за обработка на клиентски данни.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CSCB700 - ОПТИМИЗАЦИЯ ЗА ТЪРСАЧКИ В УЕБ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9. Обобщение на постигнатите резултати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E293B"/>
                </a:solidFill>
              </a:rPr>
              <a:t>Покрити изисквания: </a:t>
            </a:r>
            <a:r>
              <a:rPr sz="1400">
                <a:solidFill>
                  <a:srgbClr val="475569"/>
                </a:solidFill>
              </a:rPr>
              <a:t>30 от 30 изисквания по конспекта на дисциплината CSCB700 са изпълнени и валидирани на 100%.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Университетска таблица (#28): </a:t>
            </a:r>
            <a:r>
              <a:rPr sz="1400">
                <a:solidFill>
                  <a:srgbClr val="475569"/>
                </a:solidFill>
              </a:rPr>
              <a:t>Попълнена е цялостната оптимизационна матрица за всички 11 страници с ключови думи, мета данни и вътрешни линкове.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Практическа стойност: </a:t>
            </a:r>
            <a:r>
              <a:rPr sz="1400">
                <a:solidFill>
                  <a:srgbClr val="475569"/>
                </a:solidFill>
              </a:rPr>
              <a:t>Проектът не е просто учебна концепция, а напълно функционален, реален сайт с висока конверсионна готовност за клиенти.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E293B"/>
                </a:solidFill>
              </a:rPr>
              <a:t>Готови материали: </a:t>
            </a:r>
            <a:r>
              <a:rPr sz="1400">
                <a:solidFill>
                  <a:srgbClr val="475569"/>
                </a:solidFill>
              </a:rPr>
              <a:t>Сайтът е качен локално, документацията е структурирана и презентациите са готови за защита.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